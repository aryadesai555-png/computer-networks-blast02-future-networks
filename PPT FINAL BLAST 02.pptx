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7"/>
    <p:restoredTop sz="94631"/>
  </p:normalViewPr>
  <p:slideViewPr>
    <p:cSldViewPr snapToGrid="0" snapToObjects="1">
      <p:cViewPr varScale="1">
        <p:scale>
          <a:sx n="123" d="100"/>
          <a:sy n="123" d="100"/>
        </p:scale>
        <p:origin x="4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82B41"/>
          </a:solidFill>
          <a:ln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V="1">
            <a:off x="9326880" y="731520"/>
            <a:ext cx="1280160" cy="18288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07040" y="731520"/>
            <a:ext cx="731520" cy="9144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26880" y="914400"/>
            <a:ext cx="274320" cy="13716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0" y="2286000"/>
            <a:ext cx="1188720" cy="4572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789920" y="1645920"/>
            <a:ext cx="548640" cy="109728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789920" y="2743200"/>
            <a:ext cx="640080" cy="9144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509760" y="2286000"/>
            <a:ext cx="91440" cy="192024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4206240"/>
            <a:ext cx="1097280" cy="82296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5029200"/>
            <a:ext cx="822960" cy="64008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607040" y="2743200"/>
            <a:ext cx="182880" cy="2286000"/>
          </a:xfrm>
          <a:prstGeom prst="line">
            <a:avLst/>
          </a:prstGeom>
          <a:ln w="13970">
            <a:solidFill>
              <a:srgbClr val="3C63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58300" y="845820"/>
            <a:ext cx="137160" cy="137160"/>
          </a:xfrm>
          <a:prstGeom prst="ellipse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38460" y="662940"/>
            <a:ext cx="137160" cy="137160"/>
          </a:xfrm>
          <a:prstGeom prst="ellipse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69980" y="1577340"/>
            <a:ext cx="137160" cy="137160"/>
          </a:xfrm>
          <a:prstGeom prst="ellipse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32620" y="2217420"/>
            <a:ext cx="137160" cy="137160"/>
          </a:xfrm>
          <a:prstGeom prst="ellipse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721340" y="2674620"/>
            <a:ext cx="137160" cy="137160"/>
          </a:xfrm>
          <a:prstGeom prst="ellipse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361420" y="3589020"/>
            <a:ext cx="137160" cy="137160"/>
          </a:xfrm>
          <a:prstGeom prst="ellipse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441180" y="4137659"/>
            <a:ext cx="137160" cy="137160"/>
          </a:xfrm>
          <a:prstGeom prst="ellipse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38460" y="4960620"/>
            <a:ext cx="137160" cy="137160"/>
          </a:xfrm>
          <a:prstGeom prst="ellipse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361420" y="5600700"/>
            <a:ext cx="137160" cy="137160"/>
          </a:xfrm>
          <a:prstGeom prst="ellipse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1463040"/>
            <a:ext cx="740664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Aptos"/>
              </a:defRPr>
            </a:pPr>
            <a:r>
              <a:t>From Today’s Internet</a:t>
            </a:r>
            <a:br/>
            <a:r>
              <a:t>to the Network of 2035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3246120"/>
            <a:ext cx="731520" cy="54864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11880"/>
            <a:ext cx="71323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0">
                <a:solidFill>
                  <a:srgbClr val="D7E2ED"/>
                </a:solidFill>
                <a:latin typeface="Aptos"/>
              </a:defRPr>
            </a:pPr>
            <a:r>
              <a:t>How could AI, quantum technology, blockchain, and 6G change future networks?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172200"/>
            <a:ext cx="24688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900" b="1">
                <a:solidFill>
                  <a:srgbClr val="A6BBCC"/>
                </a:solidFill>
                <a:latin typeface="Aptos"/>
              </a:defRPr>
            </a:pPr>
            <a:r>
              <a:t>FUTURE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01 /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Today’s network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82296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D6F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26080"/>
            <a:ext cx="2212848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6303B"/>
                </a:solidFill>
                <a:latin typeface="Aptos"/>
              </a:defRPr>
            </a:pPr>
            <a:r>
              <a:t>Delay in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1645920"/>
            <a:ext cx="2560320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84448" y="1645920"/>
            <a:ext cx="2560320" cy="82296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193852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D7914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9572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Congestion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26080"/>
            <a:ext cx="2212848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6303B"/>
                </a:solidFill>
                <a:latin typeface="Aptos"/>
              </a:defRPr>
            </a:pPr>
            <a:r>
              <a:t>Traffic exceeds available resources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1645920"/>
            <a:ext cx="2560320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37376" y="1645920"/>
            <a:ext cx="2560320" cy="82296"/>
          </a:xfrm>
          <a:prstGeom prst="rect">
            <a:avLst/>
          </a:prstGeom>
          <a:solidFill>
            <a:srgbClr val="B44F53"/>
          </a:solidFill>
          <a:ln>
            <a:solidFill>
              <a:srgbClr val="B44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93852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B44F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9572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Packet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926080"/>
            <a:ext cx="2212848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6303B"/>
                </a:solidFill>
                <a:latin typeface="Aptos"/>
              </a:defRPr>
            </a:pPr>
            <a:r>
              <a:t>Packets fail to reach their destination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1645920"/>
            <a:ext cx="2560320" cy="2057400"/>
          </a:xfrm>
          <a:prstGeom prst="round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90304" y="1645920"/>
            <a:ext cx="2560320" cy="82296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54896" y="1938528"/>
            <a:ext cx="640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D91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395728"/>
            <a:ext cx="22402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2926080"/>
            <a:ext cx="2212848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0">
                <a:solidFill>
                  <a:srgbClr val="26303B"/>
                </a:solidFill>
                <a:latin typeface="Aptos"/>
              </a:defRPr>
            </a:pPr>
            <a:r>
              <a:t>Data delivered successfully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2D918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36592"/>
            <a:ext cx="1024128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0">
                <a:solidFill>
                  <a:srgbClr val="26303B"/>
                </a:solidFill>
                <a:latin typeface="Aptos"/>
              </a:defRPr>
            </a:pPr>
            <a:r>
              <a:t>Congestion can increase queuing delay and may contribute to packet loss. A bottleneck limits the performance of the whole connection.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02 /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My network experiment: 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5394960" cy="3520440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755648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6ECDC7"/>
                </a:solidFill>
                <a:latin typeface="Aptos"/>
              </a:defRPr>
            </a:pPr>
            <a:r>
              <a:t>TERMINAL  /  ping -c 4 google.com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74519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2D918F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50592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636F7B"/>
                </a:solidFill>
                <a:latin typeface="Aptos"/>
              </a:defRPr>
            </a:pPr>
            <a:r>
              <a:t>Packet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608" y="1874519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2D6FA8"/>
                </a:solidFill>
                <a:latin typeface="Aptos"/>
              </a:defRPr>
            </a:pPr>
            <a:r>
              <a:t>37.538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2450592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636F7B"/>
                </a:solidFill>
                <a:latin typeface="Aptos"/>
              </a:defRPr>
            </a:pPr>
            <a:r>
              <a:t>Average RTT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1874519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800" b="1">
                <a:solidFill>
                  <a:srgbClr val="D79141"/>
                </a:solidFill>
                <a:latin typeface="Aptos"/>
              </a:defRPr>
            </a:pPr>
            <a:r>
              <a:t>19–76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57816" y="2450592"/>
            <a:ext cx="16002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0">
                <a:solidFill>
                  <a:srgbClr val="636F7B"/>
                </a:solidFill>
                <a:latin typeface="Aptos"/>
              </a:defRPr>
            </a:pPr>
            <a:r>
              <a:t>Observed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429000"/>
            <a:ext cx="49377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82B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40480"/>
            <a:ext cx="457200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303B"/>
                </a:solidFill>
                <a:latin typeface="Aptos"/>
              </a:defRPr>
            </a:pPr>
            <a:r>
              <a:t>•  All four probes received replies.</a:t>
            </a:r>
          </a:p>
          <a:p>
            <a:pPr>
              <a:spcAft>
                <a:spcPts val="800"/>
              </a:spcAft>
              <a:defRPr sz="1300">
                <a:solidFill>
                  <a:srgbClr val="26303B"/>
                </a:solidFill>
                <a:latin typeface="Aptos"/>
              </a:defRPr>
            </a:pPr>
            <a:r>
              <a:t>•  Response times varied.</a:t>
            </a:r>
          </a:p>
          <a:p>
            <a:pPr>
              <a:spcAft>
                <a:spcPts val="800"/>
              </a:spcAft>
              <a:defRPr sz="1300">
                <a:solidFill>
                  <a:srgbClr val="26303B"/>
                </a:solidFill>
                <a:latin typeface="Aptos"/>
              </a:defRPr>
            </a:pPr>
            <a:r>
              <a:t>•  This short test cannot identify the exact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9" name="Picture 18" descr="A white text with black numbers and numbers&#10;&#10;AI-generated content may be incorrect.">
            <a:extLst>
              <a:ext uri="{FF2B5EF4-FFF2-40B4-BE49-F238E27FC236}">
                <a16:creationId xmlns:a16="http://schemas.microsoft.com/office/drawing/2014/main" id="{CEE507D5-6C27-3804-95D8-806844D0D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08" y="2565316"/>
            <a:ext cx="5145024" cy="1498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03 / INTELLIGENT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AI-native 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1">
                <a:solidFill>
                  <a:srgbClr val="182B41"/>
                </a:solidFill>
                <a:latin typeface="Aptos"/>
              </a:defRPr>
            </a:pPr>
            <a:r>
              <a:t>AI can support three network-management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971800" cy="1143000"/>
          </a:xfrm>
          <a:prstGeom prst="round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64008" cy="1143000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2697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51176"/>
            <a:ext cx="26974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Spot traffic growth and possible congestion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103120"/>
            <a:ext cx="2971800" cy="1143000"/>
          </a:xfrm>
          <a:prstGeom prst="roundRect">
            <a:avLst/>
          </a:prstGeom>
          <a:solidFill>
            <a:srgbClr val="E1F1E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2103120"/>
            <a:ext cx="64008" cy="1143000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2212848"/>
            <a:ext cx="2697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551176"/>
            <a:ext cx="26974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Recommend routes and allocate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103120"/>
            <a:ext cx="2971800" cy="1143000"/>
          </a:xfrm>
          <a:prstGeom prst="roundRect">
            <a:avLst/>
          </a:prstGeom>
          <a:solidFill>
            <a:srgbClr val="FAF1E1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103120"/>
            <a:ext cx="64008" cy="1143000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2212848"/>
            <a:ext cx="2697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551176"/>
            <a:ext cx="269748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Identify faults or unusual traffic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94760" y="2670048"/>
            <a:ext cx="411480" cy="0"/>
          </a:xfrm>
          <a:prstGeom prst="line">
            <a:avLst/>
          </a:prstGeom>
          <a:ln w="20320">
            <a:solidFill>
              <a:srgbClr val="2D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23760" y="2670048"/>
            <a:ext cx="411480" cy="0"/>
          </a:xfrm>
          <a:prstGeom prst="line">
            <a:avLst/>
          </a:prstGeom>
          <a:ln w="20320">
            <a:solidFill>
              <a:srgbClr val="2D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22960" y="3840480"/>
            <a:ext cx="10058400" cy="1234440"/>
          </a:xfrm>
          <a:prstGeom prst="rect">
            <a:avLst/>
          </a:prstGeom>
          <a:solidFill>
            <a:srgbClr val="F9F6EF"/>
          </a:solidFill>
          <a:ln>
            <a:solidFill>
              <a:srgbClr val="EBDD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050791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D79141"/>
                </a:solidFill>
                <a:latin typeface="Aptos"/>
              </a:defRPr>
            </a:pPr>
            <a:r>
              <a:t>MAIN CAUTION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23360"/>
            <a:ext cx="76809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0">
                <a:solidFill>
                  <a:srgbClr val="26303B"/>
                </a:solidFill>
                <a:latin typeface="Aptos"/>
              </a:defRPr>
            </a:pPr>
            <a:r>
              <a:t>AI depends on reliable data. Wrong predictions or unsafe automated changes can disrupt service, so important actions need monitoring and oversight.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04 / SPECIALIZED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Quantum 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3891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182B41"/>
                </a:solidFill>
                <a:latin typeface="Aptos"/>
              </a:defRPr>
            </a:pPr>
            <a:r>
              <a:t>What makes it different?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206240" cy="2468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Carries quantum information</a:t>
            </a:r>
          </a:p>
          <a:p>
            <a:pPr>
              <a:spcAft>
                <a:spcPts val="15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May use photons and quantum states</a:t>
            </a:r>
          </a:p>
          <a:p>
            <a:pPr>
              <a:spcAft>
                <a:spcPts val="15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Quantum repeaters remain a research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600200"/>
            <a:ext cx="5486400" cy="3337560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0" y="1828800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2D918F"/>
                </a:solidFill>
                <a:latin typeface="Aptos"/>
              </a:defRPr>
            </a:pPr>
            <a:r>
              <a:t>SIMPLIFIED QUANTUM LINK</a:t>
            </a:r>
          </a:p>
        </p:txBody>
      </p:sp>
      <p:sp>
        <p:nvSpPr>
          <p:cNvPr id="9" name="Oval 8"/>
          <p:cNvSpPr/>
          <p:nvPr/>
        </p:nvSpPr>
        <p:spPr>
          <a:xfrm>
            <a:off x="5989320" y="2606040"/>
            <a:ext cx="1280160" cy="868680"/>
          </a:xfrm>
          <a:prstGeom prst="ellipse">
            <a:avLst/>
          </a:prstGeom>
          <a:solidFill>
            <a:srgbClr val="E1EDF7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72600" y="2606040"/>
            <a:ext cx="1280160" cy="868680"/>
          </a:xfrm>
          <a:prstGeom prst="ellipse">
            <a:avLst/>
          </a:prstGeom>
          <a:solidFill>
            <a:srgbClr val="E1F1E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288036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82B41"/>
                </a:solidFill>
                <a:latin typeface="Aptos"/>
              </a:defRPr>
            </a:pPr>
            <a:r>
              <a:t>Node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880360"/>
            <a:ext cx="1097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300" b="1">
                <a:solidFill>
                  <a:srgbClr val="182B41"/>
                </a:solidFill>
                <a:latin typeface="Aptos"/>
              </a:defRPr>
            </a:pPr>
            <a:r>
              <a:t>Node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69480" y="3035808"/>
            <a:ext cx="2103120" cy="0"/>
          </a:xfrm>
          <a:prstGeom prst="line">
            <a:avLst/>
          </a:prstGeom>
          <a:ln w="27940">
            <a:solidFill>
              <a:srgbClr val="2D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43800" y="2606040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100" b="1">
                <a:solidFill>
                  <a:srgbClr val="2D6FA8"/>
                </a:solidFill>
                <a:latin typeface="Aptos"/>
              </a:defRPr>
            </a:pPr>
            <a:r>
              <a:t>photon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977639"/>
            <a:ext cx="47548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200" b="0">
                <a:solidFill>
                  <a:srgbClr val="636F7B"/>
                </a:solidFill>
                <a:latin typeface="Aptos"/>
              </a:defRPr>
            </a:pPr>
            <a:r>
              <a:t>Conceptual only — quantum links are not ordinary IP packet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1498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2D6FA8"/>
                </a:solidFill>
                <a:latin typeface="Aptos"/>
              </a:defRPr>
            </a:pPr>
            <a:r>
              <a:t>Large-scale quantum networking remains experimental; it is not a universal replacement for the Internet.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05 / PROTECTING CLASSICAL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Post-quantum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800600" cy="2377440"/>
          </a:xfrm>
          <a:prstGeom prst="rect">
            <a:avLst/>
          </a:prstGeom>
          <a:solidFill>
            <a:srgbClr val="FAF1E1"/>
          </a:solidFill>
          <a:ln>
            <a:solidFill>
              <a:srgbClr val="EBDD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114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B44F53"/>
                </a:solidFill>
                <a:latin typeface="Aptos"/>
              </a:defRPr>
            </a:pPr>
            <a:r>
              <a:t>THE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06908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26303B"/>
                </a:solidFill>
                <a:latin typeface="Aptos"/>
              </a:defRPr>
            </a:pPr>
            <a:r>
              <a:t>A sufficiently capable quantum computer could threaten some public-key cryptography used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00600" cy="2377440"/>
          </a:xfrm>
          <a:prstGeom prst="rect">
            <a:avLst/>
          </a:prstGeom>
          <a:solidFill>
            <a:srgbClr val="E1F1EF"/>
          </a:solidFill>
          <a:ln>
            <a:solidFill>
              <a:srgbClr val="C3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114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2D918F"/>
                </a:solidFill>
                <a:latin typeface="Aptos"/>
              </a:defRPr>
            </a:pPr>
            <a:r>
              <a:t>THE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406908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26303B"/>
                </a:solidFill>
                <a:latin typeface="Aptos"/>
              </a:defRPr>
            </a:pPr>
            <a:r>
              <a:t>PQC uses algorithms designed to resist attacks from classical and quantum computers.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700" b="1">
                <a:solidFill>
                  <a:srgbClr val="182B41"/>
                </a:solidFill>
                <a:latin typeface="Aptos"/>
              </a:defRPr>
            </a:pPr>
            <a:r>
              <a:t>NIST published three post-quantum cryptography standards in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101498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636F7B"/>
                </a:solidFill>
                <a:latin typeface="Aptos"/>
              </a:defRPr>
            </a:pPr>
            <a:r>
              <a:t>PQC protects classical digital communication. Quantum networking is about communicating quantum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06 / SHARED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Blockchain in 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2D918F"/>
                </a:solidFill>
                <a:latin typeface="Aptos"/>
              </a:defRPr>
            </a:pPr>
            <a:r>
              <a:t>Where it might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66344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Device identity records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Access-change logs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Shared security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D79141"/>
                </a:solidFill>
                <a:latin typeface="Aptos"/>
              </a:defRPr>
            </a:pPr>
            <a:r>
              <a:t>What to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57400"/>
            <a:ext cx="466344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Latency and storage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Privacy and complexity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Consensus overhead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709160"/>
            <a:ext cx="10241280" cy="74980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4901184"/>
            <a:ext cx="97840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 b="1">
                <a:solidFill>
                  <a:srgbClr val="182B41"/>
                </a:solidFill>
                <a:latin typeface="Aptos"/>
              </a:defRPr>
            </a:pPr>
            <a:r>
              <a:t>If one trusted organization controls the data, a traditional database may be simpler.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07 / ADDITIONAL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6G: the next mobile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182B41"/>
                </a:solidFill>
                <a:latin typeface="Aptos"/>
              </a:defRPr>
            </a:pPr>
            <a:r>
              <a:t>Potential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Future mobile connectivity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AI-enabled communication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Connected devices and immersive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800" b="1">
                <a:solidFill>
                  <a:srgbClr val="D79141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457200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Standards and testing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Infrastructure and energy costs</a:t>
            </a:r>
          </a:p>
          <a:p>
            <a:pPr>
              <a:spcAft>
                <a:spcPts val="1300"/>
              </a:spcAft>
              <a:defRPr sz="1600">
                <a:solidFill>
                  <a:srgbClr val="26303B"/>
                </a:solidFill>
                <a:latin typeface="Aptos"/>
              </a:defRPr>
            </a:pPr>
            <a:r>
              <a:t>•  Coverage and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709160"/>
            <a:ext cx="10195560" cy="566928"/>
          </a:xfrm>
          <a:prstGeom prst="rect">
            <a:avLst/>
          </a:prstGeom>
          <a:solidFill>
            <a:srgbClr val="E1EDF7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864608"/>
            <a:ext cx="97840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00" b="1">
                <a:solidFill>
                  <a:srgbClr val="2D6FA8"/>
                </a:solidFill>
                <a:latin typeface="Aptos"/>
              </a:defRPr>
            </a:pPr>
            <a:r>
              <a:t>CURRENT STATUS: Emerging / standardization — not a fully deployed commercial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08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Protocol layers still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1481328"/>
            <a:ext cx="2331720" cy="530352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618488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81328"/>
            <a:ext cx="7132320" cy="530352"/>
          </a:xfrm>
          <a:prstGeom prst="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600200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AI services • blockchain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231136"/>
            <a:ext cx="2331720" cy="53035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368296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231136"/>
            <a:ext cx="7132320" cy="530352"/>
          </a:xfrm>
          <a:prstGeom prst="rect">
            <a:avLst/>
          </a:prstGeom>
          <a:solidFill>
            <a:srgbClr val="E1F1E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350008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TCP / UDP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980944"/>
            <a:ext cx="2331720" cy="530352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118103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980944"/>
            <a:ext cx="7132320" cy="530352"/>
          </a:xfrm>
          <a:prstGeom prst="rect">
            <a:avLst/>
          </a:prstGeom>
          <a:solidFill>
            <a:srgbClr val="FAF1E1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3099815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IP routing • AI-assisted routes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730752"/>
            <a:ext cx="2331720" cy="530352"/>
          </a:xfrm>
          <a:prstGeom prst="rect">
            <a:avLst/>
          </a:prstGeom>
          <a:solidFill>
            <a:srgbClr val="2D6FA8"/>
          </a:solidFill>
          <a:ln>
            <a:solidFill>
              <a:srgbClr val="2D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867912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LINK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730752"/>
            <a:ext cx="7132320" cy="530352"/>
          </a:xfrm>
          <a:prstGeom prst="rect">
            <a:avLst/>
          </a:prstGeom>
          <a:solidFill>
            <a:srgbClr val="E1EDF7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3849624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Wi-Fi • 5G / 6G radio links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480560"/>
            <a:ext cx="2331720" cy="530352"/>
          </a:xfrm>
          <a:prstGeom prst="rect">
            <a:avLst/>
          </a:prstGeom>
          <a:solidFill>
            <a:srgbClr val="B44F53"/>
          </a:solidFill>
          <a:ln>
            <a:solidFill>
              <a:srgbClr val="B44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617720"/>
            <a:ext cx="21031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480560"/>
            <a:ext cx="7132320" cy="530352"/>
          </a:xfrm>
          <a:prstGeom prst="rect">
            <a:avLst/>
          </a:prstGeom>
          <a:solidFill>
            <a:srgbClr val="F8EBEB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4599432"/>
            <a:ext cx="66751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0">
                <a:solidFill>
                  <a:srgbClr val="26303B"/>
                </a:solidFill>
                <a:latin typeface="Aptos"/>
              </a:defRPr>
            </a:pPr>
            <a:r>
              <a:t>Fiber • radio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532120"/>
            <a:ext cx="10058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182B41"/>
                </a:solidFill>
                <a:latin typeface="Aptos"/>
              </a:defRPr>
            </a:pPr>
            <a:r>
              <a:t>Encapsulation: Message → Segment → Packet → Frame →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991"/>
                </a:solidFill>
                <a:latin typeface="Aptos"/>
              </a:defRPr>
            </a:pPr>
            <a:r>
              <a:t>09 / PROPOSED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21207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A"/>
                </a:solidFill>
                <a:latin typeface="Aptos Display"/>
              </a:defRPr>
            </a:pPr>
            <a:r>
              <a:t>My Network of 2035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24712"/>
            <a:ext cx="62179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92040" y="1325880"/>
            <a:ext cx="22860" cy="5212080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57800" y="1344168"/>
            <a:ext cx="6126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8991"/>
                </a:solidFill>
                <a:latin typeface="Aptos"/>
              </a:defRPr>
            </a:pPr>
            <a:r>
              <a:t>HOW THE ARCHITECTURE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0368" y="1938528"/>
            <a:ext cx="6172200" cy="932688"/>
          </a:xfrm>
          <a:prstGeom prst="roundRect">
            <a:avLst/>
          </a:prstGeom>
          <a:solidFill>
            <a:srgbClr val="EFF5F9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0" y="2084832"/>
            <a:ext cx="438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2039112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A"/>
                </a:solidFill>
                <a:latin typeface="Aptos"/>
              </a:defRPr>
            </a:pPr>
            <a:r>
              <a:t>Classical data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322576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36277"/>
                </a:solidFill>
                <a:latin typeface="Aptos"/>
              </a:defRPr>
            </a:pPr>
            <a:r>
              <a:t>Devices connect through Wi-Fi, 5G/6G, fiber and routers. Ordinary traffic continues to use IP, TCP and UDP.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2971800"/>
            <a:ext cx="6172200" cy="932688"/>
          </a:xfrm>
          <a:prstGeom prst="roundRect">
            <a:avLst/>
          </a:prstGeom>
          <a:solidFill>
            <a:srgbClr val="EFF5F9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0" y="3118104"/>
            <a:ext cx="438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3072384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A"/>
                </a:solidFill>
                <a:latin typeface="Aptos"/>
              </a:defRPr>
            </a:pPr>
            <a:r>
              <a:t>AI network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3355848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36277"/>
                </a:solidFill>
                <a:latin typeface="Aptos"/>
              </a:defRPr>
            </a:pPr>
            <a:r>
              <a:t>Monitors traffic and predicts congestion, supports route optimization, and helps detect faults.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4005072"/>
            <a:ext cx="6172200" cy="932688"/>
          </a:xfrm>
          <a:prstGeom prst="roundRect">
            <a:avLst/>
          </a:prstGeom>
          <a:solidFill>
            <a:srgbClr val="EFF5F9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0" y="4151376"/>
            <a:ext cx="438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4105656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A"/>
                </a:solidFill>
                <a:latin typeface="Aptos"/>
              </a:defRPr>
            </a:pPr>
            <a:r>
              <a:t>Security and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4389120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36277"/>
                </a:solidFill>
                <a:latin typeface="Aptos"/>
              </a:defRPr>
            </a:pPr>
            <a:r>
              <a:t>Cybersecurity handles threat detection and access control; post-quantum cryptography protects against future quantum attacks.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0368" y="5038344"/>
            <a:ext cx="6172200" cy="932688"/>
          </a:xfrm>
          <a:prstGeom prst="roundRect">
            <a:avLst/>
          </a:prstGeom>
          <a:solidFill>
            <a:srgbClr val="EFF5F9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5184648"/>
            <a:ext cx="4389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5138928"/>
            <a:ext cx="532180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03A"/>
                </a:solidFill>
                <a:latin typeface="Aptos"/>
              </a:defRPr>
            </a:pPr>
            <a:r>
              <a:t>Blockchain and quantum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5422392"/>
            <a:ext cx="5321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36277"/>
                </a:solidFill>
                <a:latin typeface="Aptos"/>
              </a:defRPr>
            </a:pPr>
            <a:r>
              <a:t>Blockchain can support selected identity and audit records. Quantum links are specialized and remain experimental/developing.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6144768"/>
            <a:ext cx="6035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36277"/>
                </a:solidFill>
                <a:latin typeface="Aptos"/>
              </a:defRPr>
            </a:pPr>
            <a:r>
              <a:t>Security spans the architecture; blockchain does not carry every packet.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36277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28" name="Picture 27" descr="A diagram of a network security system&#10;&#10;AI-generated content may be incorrect.">
            <a:extLst>
              <a:ext uri="{FF2B5EF4-FFF2-40B4-BE49-F238E27FC236}">
                <a16:creationId xmlns:a16="http://schemas.microsoft.com/office/drawing/2014/main" id="{B55923C0-ECBE-6151-C080-F97992593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41" y="1098638"/>
            <a:ext cx="4119765" cy="56665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2D918F"/>
                </a:solidFill>
                <a:latin typeface="Aptos"/>
              </a:defRPr>
            </a:pPr>
            <a:r>
              <a:t>10 /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182B41"/>
                </a:solidFill>
                <a:latin typeface="Aptos"/>
              </a:defRPr>
            </a:pPr>
            <a:r>
              <a:t>Comparison and my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2D918F"/>
          </a:solidFill>
          <a:ln>
            <a:solidFill>
              <a:srgbClr val="2D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2331720" cy="438912"/>
          </a:xfrm>
          <a:prstGeom prst="rect">
            <a:avLst/>
          </a:prstGeom>
          <a:solidFill>
            <a:srgbClr val="182B41"/>
          </a:solidFill>
          <a:ln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600200"/>
            <a:ext cx="21122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481328"/>
            <a:ext cx="4251960" cy="438912"/>
          </a:xfrm>
          <a:prstGeom prst="rect">
            <a:avLst/>
          </a:prstGeom>
          <a:solidFill>
            <a:srgbClr val="182B41"/>
          </a:solidFill>
          <a:ln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27248" y="1600200"/>
            <a:ext cx="4032504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MAIN 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481328"/>
            <a:ext cx="4160520" cy="438912"/>
          </a:xfrm>
          <a:prstGeom prst="rect">
            <a:avLst/>
          </a:prstGeom>
          <a:solidFill>
            <a:srgbClr val="182B41"/>
          </a:solidFill>
          <a:ln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79208" y="1600200"/>
            <a:ext cx="3941063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MATURITY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20240"/>
            <a:ext cx="23317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2048256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AI networking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920240"/>
            <a:ext cx="425196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27248" y="2048256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Management and optimization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920240"/>
            <a:ext cx="41605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9208" y="2048256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Deployed / emerging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487168"/>
            <a:ext cx="23317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2615184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Quantum networking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487168"/>
            <a:ext cx="4251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27248" y="2615184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Quantum information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487168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9208" y="2615184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Experimental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054096"/>
            <a:ext cx="23317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182112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Post-quantum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054096"/>
            <a:ext cx="425196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27248" y="3182112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Protect classical cryptography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3054096"/>
            <a:ext cx="41605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79208" y="3182112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Standards published; migration ongoing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621024"/>
            <a:ext cx="23317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3749039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Blockchain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621024"/>
            <a:ext cx="4251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27248" y="3749039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Shared, verifiable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621024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79208" y="3749039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Application-dependent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187952"/>
            <a:ext cx="23317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4315968"/>
            <a:ext cx="21122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26303B"/>
                </a:solidFill>
                <a:latin typeface="Aptos"/>
              </a:defRPr>
            </a:pPr>
            <a:r>
              <a:t>6G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187952"/>
            <a:ext cx="425196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27248" y="4315968"/>
            <a:ext cx="4032504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Future mobile connectivity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187952"/>
            <a:ext cx="4160520" cy="566928"/>
          </a:xfrm>
          <a:prstGeom prst="rect">
            <a:avLst/>
          </a:prstGeom>
          <a:solidFill>
            <a:srgbClr val="F0F5F8"/>
          </a:solidFill>
          <a:ln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79208" y="4315968"/>
            <a:ext cx="3941063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26303B"/>
                </a:solidFill>
                <a:latin typeface="Aptos"/>
              </a:defRPr>
            </a:pPr>
            <a:r>
              <a:t>Emerging / standardization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074920"/>
            <a:ext cx="10561320" cy="749808"/>
          </a:xfrm>
          <a:prstGeom prst="rect">
            <a:avLst/>
          </a:prstGeom>
          <a:solidFill>
            <a:srgbClr val="E1EDF7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" y="5239512"/>
            <a:ext cx="100584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2D6FA8"/>
                </a:solidFill>
                <a:latin typeface="Aptos"/>
              </a:defRPr>
            </a:pPr>
            <a:r>
              <a:t>My prediction: AI-native networking may have the broadest everyday impact.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623560"/>
            <a:ext cx="10058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0">
                <a:solidFill>
                  <a:srgbClr val="26303B"/>
                </a:solidFill>
                <a:latin typeface="Aptos"/>
              </a:defRPr>
            </a:pPr>
            <a:r>
              <a:t>It can improve existing networks through prediction, fault detection, and controlled automation.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636F7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56032"/>
            <a:ext cx="100584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6ECDC7"/>
                </a:solidFill>
                <a:latin typeface="Aptos"/>
              </a:defRPr>
            </a:pPr>
            <a:r>
              <a:t>11 /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1097280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225296"/>
            <a:ext cx="621792" cy="50292"/>
          </a:xfrm>
          <a:prstGeom prst="rect">
            <a:avLst/>
          </a:prstGeom>
          <a:solidFill>
            <a:srgbClr val="D79141"/>
          </a:solidFill>
          <a:ln>
            <a:solidFill>
              <a:srgbClr val="D7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943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The future is more likely to extend the Internet than replace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760720" cy="2468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700"/>
              </a:spcAft>
              <a:defRPr sz="1600">
                <a:solidFill>
                  <a:srgbClr val="DBE5EE"/>
                </a:solidFill>
                <a:latin typeface="Aptos"/>
              </a:defRPr>
            </a:pPr>
            <a:r>
              <a:t>•  AI may make network management more intelligent.</a:t>
            </a:r>
          </a:p>
          <a:p>
            <a:pPr>
              <a:spcAft>
                <a:spcPts val="1700"/>
              </a:spcAft>
              <a:defRPr sz="1600">
                <a:solidFill>
                  <a:srgbClr val="DBE5EE"/>
                </a:solidFill>
                <a:latin typeface="Aptos"/>
              </a:defRPr>
            </a:pPr>
            <a:r>
              <a:t>•  6G may improve future wireless connectivity.</a:t>
            </a:r>
          </a:p>
          <a:p>
            <a:pPr>
              <a:spcAft>
                <a:spcPts val="1700"/>
              </a:spcAft>
              <a:defRPr sz="1600">
                <a:solidFill>
                  <a:srgbClr val="DBE5EE"/>
                </a:solidFill>
                <a:latin typeface="Aptos"/>
              </a:defRPr>
            </a:pPr>
            <a:r>
              <a:t>•  PQC, blockchain, and quantum networking have different roles.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600200"/>
            <a:ext cx="4114800" cy="3474720"/>
          </a:xfrm>
          <a:prstGeom prst="rect">
            <a:avLst/>
          </a:prstGeom>
          <a:solidFill>
            <a:srgbClr val="182B41"/>
          </a:solidFill>
          <a:ln>
            <a:solidFill>
              <a:srgbClr val="3B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874519"/>
            <a:ext cx="35661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6ECDC7"/>
                </a:solidFill>
                <a:latin typeface="Aptos"/>
              </a:defRPr>
            </a:pPr>
            <a:r>
              <a:t>SELECTED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317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Boutaba et al. — ML for networking (2018)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807208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Azuma et al. — Quantum repeaters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282696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NIST — PQC standards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758183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Yaga et al. — Blockchain overview (2018)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233672"/>
            <a:ext cx="3566160" cy="8063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rPr dirty="0"/>
              <a:t>ITU — IMT-2030 framework (2023)</a:t>
            </a:r>
            <a:endParaRPr lang="en-US" dirty="0"/>
          </a:p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endParaRPr lang="en-US" dirty="0"/>
          </a:p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Reyna et al. — Blockchain and IoT (2018), </a:t>
            </a:r>
            <a:r>
              <a:rPr lang="en-US" dirty="0" err="1"/>
              <a:t>doi</a:t>
            </a:r>
            <a:r>
              <a:rPr lang="en-US" dirty="0"/>
              <a:t>: 10.1016/j.future.2018.05.046</a:t>
            </a:r>
          </a:p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300" b="1">
                <a:solidFill>
                  <a:srgbClr val="6ECDC7"/>
                </a:solidFill>
                <a:latin typeface="Aptos"/>
              </a:defRPr>
            </a:pPr>
            <a:r>
              <a:t>Thank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defRPr sz="800" b="0">
                <a:solidFill>
                  <a:srgbClr val="AEBEC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785</Words>
  <Application>Microsoft Macintosh PowerPoint</Application>
  <PresentationFormat>Widescreen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Desai, Arya Shaileshbhai</cp:lastModifiedBy>
  <cp:revision>2</cp:revision>
  <dcterms:created xsi:type="dcterms:W3CDTF">2013-01-27T09:14:16Z</dcterms:created>
  <dcterms:modified xsi:type="dcterms:W3CDTF">2026-10-15T23:31:47Z</dcterms:modified>
  <cp:category/>
</cp:coreProperties>
</file>