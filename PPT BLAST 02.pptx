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 snapToObjects="1">
      <p:cViewPr varScale="1">
        <p:scale>
          <a:sx n="115" d="100"/>
          <a:sy n="115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9326880" y="731520"/>
            <a:ext cx="1280160" cy="1828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0" y="731520"/>
            <a:ext cx="731520" cy="9144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26880" y="914400"/>
            <a:ext cx="274320" cy="13716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2286000"/>
            <a:ext cx="1188720" cy="4572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789920" y="1645920"/>
            <a:ext cx="548640" cy="10972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789920" y="2743200"/>
            <a:ext cx="640080" cy="9144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509760" y="2286000"/>
            <a:ext cx="91440" cy="192024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4206240"/>
            <a:ext cx="1097280" cy="82296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5029200"/>
            <a:ext cx="822960" cy="6400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2743200"/>
            <a:ext cx="182880" cy="22860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58300" y="845820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38460" y="66294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69980" y="157734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32620" y="2217420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721340" y="267462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361420" y="358902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441180" y="4137659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38460" y="496062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61420" y="560070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731520"/>
            <a:ext cx="731520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6ECDC7"/>
                </a:solidFill>
                <a:latin typeface="Aptos"/>
              </a:defRPr>
            </a:pPr>
            <a:r>
              <a:rPr dirty="0"/>
              <a:t>COMPUTER NETWORKS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463040"/>
            <a:ext cx="740664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From Today’s Internet</a:t>
            </a:r>
            <a:br/>
            <a:r>
              <a:t>to the Network of 2035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3246120"/>
            <a:ext cx="731520" cy="54864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11880"/>
            <a:ext cx="71323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0">
                <a:solidFill>
                  <a:srgbClr val="D7E2ED"/>
                </a:solidFill>
                <a:latin typeface="Aptos"/>
              </a:defRPr>
            </a:pPr>
            <a:r>
              <a:t>How could AI, quantum technology, blockchain, and 6G change future networks?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172200"/>
            <a:ext cx="24688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1">
                <a:solidFill>
                  <a:srgbClr val="A6BBCC"/>
                </a:solidFill>
                <a:latin typeface="Aptos"/>
              </a:defRPr>
            </a:pPr>
            <a:r>
              <a:t>FUTURE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01 /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Today’s network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82296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D6F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Delay in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84448" y="1645920"/>
            <a:ext cx="2560320" cy="82296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D791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Congestion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Traffic exceeds available 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37376" y="1645920"/>
            <a:ext cx="2560320" cy="82296"/>
          </a:xfrm>
          <a:prstGeom prst="rect">
            <a:avLst/>
          </a:prstGeom>
          <a:solidFill>
            <a:srgbClr val="B44F53"/>
          </a:solidFill>
          <a:ln>
            <a:solidFill>
              <a:srgbClr val="B44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B44F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Packet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Packets fail to reach their destination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90304" y="1645920"/>
            <a:ext cx="2560320" cy="82296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54896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D91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Data delivered successfully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2D918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36592"/>
            <a:ext cx="102412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0">
                <a:solidFill>
                  <a:srgbClr val="26303B"/>
                </a:solidFill>
                <a:latin typeface="Aptos"/>
              </a:defRPr>
            </a:pPr>
            <a:r>
              <a:t>Congestion can increase queuing delay and may contribute to packet loss. A bottleneck limits the performance of the whole connection.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02 /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My network experiment: 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394960" cy="3520440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755648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6ECDC7"/>
                </a:solidFill>
                <a:latin typeface="Aptos"/>
              </a:defRPr>
            </a:pPr>
            <a:r>
              <a:t>TERMINAL  /  ping -c 4 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2D918F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Packet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8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2D6FA8"/>
                </a:solidFill>
                <a:latin typeface="Aptos"/>
              </a:defRPr>
            </a:pPr>
            <a:r>
              <a:t>37.538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Average RTT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D79141"/>
                </a:solidFill>
                <a:latin typeface="Aptos"/>
              </a:defRPr>
            </a:pPr>
            <a:r>
              <a:t>19–76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7816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Observed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29000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82B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40480"/>
            <a:ext cx="457200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All four probes received replies.</a:t>
            </a:r>
          </a:p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Response times varied.</a:t>
            </a:r>
          </a:p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This short test cannot identify the exact cause.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9" name="Picture 18" descr="A white text with black numbers and numbers&#10;&#10;AI-generated content may be incorrect.">
            <a:extLst>
              <a:ext uri="{FF2B5EF4-FFF2-40B4-BE49-F238E27FC236}">
                <a16:creationId xmlns:a16="http://schemas.microsoft.com/office/drawing/2014/main" id="{6A3E9B44-D2E4-9910-CBE8-65CE14D64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24" y="2551176"/>
            <a:ext cx="5066792" cy="1475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03 / INTELLIGENT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AI-native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182B41"/>
                </a:solidFill>
                <a:latin typeface="Aptos"/>
              </a:defRPr>
            </a:pPr>
            <a:r>
              <a:t>AI can support three network-management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971800" cy="1143000"/>
          </a:xfrm>
          <a:prstGeom prst="round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64008" cy="1143000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Spot traffic growth and possible congestion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103120"/>
            <a:ext cx="2971800" cy="1143000"/>
          </a:xfrm>
          <a:prstGeom prst="roundRect">
            <a:avLst/>
          </a:prstGeom>
          <a:solidFill>
            <a:srgbClr val="E1F1E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2103120"/>
            <a:ext cx="64008" cy="1143000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Recommend routes and allocate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03120"/>
            <a:ext cx="2971800" cy="1143000"/>
          </a:xfrm>
          <a:prstGeom prst="roundRect">
            <a:avLst/>
          </a:prstGeom>
          <a:solidFill>
            <a:srgbClr val="FAF1E1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103120"/>
            <a:ext cx="64008" cy="1143000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Identify faults or unusual traffic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60" y="2670048"/>
            <a:ext cx="411480" cy="0"/>
          </a:xfrm>
          <a:prstGeom prst="line">
            <a:avLst/>
          </a:prstGeom>
          <a:ln w="2032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" y="2670048"/>
            <a:ext cx="411480" cy="0"/>
          </a:xfrm>
          <a:prstGeom prst="line">
            <a:avLst/>
          </a:prstGeom>
          <a:ln w="20320">
            <a:solidFill>
              <a:srgbClr val="2D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22960" y="3840480"/>
            <a:ext cx="10058400" cy="1234440"/>
          </a:xfrm>
          <a:prstGeom prst="rect">
            <a:avLst/>
          </a:prstGeom>
          <a:solidFill>
            <a:srgbClr val="F9F6EF"/>
          </a:solidFill>
          <a:ln>
            <a:solidFill>
              <a:srgbClr val="EBDD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050791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D79141"/>
                </a:solidFill>
                <a:latin typeface="Aptos"/>
              </a:defRPr>
            </a:pPr>
            <a:r>
              <a:t>MAIN 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23360"/>
            <a:ext cx="76809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26303B"/>
                </a:solidFill>
                <a:latin typeface="Aptos"/>
              </a:defRPr>
            </a:pPr>
            <a:r>
              <a:t>AI depends on reliable data. Wrong predictions or unsafe automated changes can disrupt service, so important actions need monitoring and oversight.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04 / SPECIALIZED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Quantum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What makes it different?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206240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Carries quantum information</a:t>
            </a:r>
          </a:p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May use photons and quantum states</a:t>
            </a:r>
          </a:p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Quantum repeaters remain a research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600200"/>
            <a:ext cx="5486400" cy="3337560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828800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2D918F"/>
                </a:solidFill>
                <a:latin typeface="Aptos"/>
              </a:defRPr>
            </a:pPr>
            <a:r>
              <a:t>SIMPLIFIED QUANTUM LINK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2606040"/>
            <a:ext cx="1280160" cy="868680"/>
          </a:xfrm>
          <a:prstGeom prst="ellipse">
            <a:avLst/>
          </a:prstGeom>
          <a:solidFill>
            <a:srgbClr val="E1EDF7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72600" y="2606040"/>
            <a:ext cx="1280160" cy="868680"/>
          </a:xfrm>
          <a:prstGeom prst="ellipse">
            <a:avLst/>
          </a:prstGeom>
          <a:solidFill>
            <a:srgbClr val="E1F1E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288036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Node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88036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Node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3035808"/>
            <a:ext cx="2103120" cy="0"/>
          </a:xfrm>
          <a:prstGeom prst="line">
            <a:avLst/>
          </a:prstGeom>
          <a:ln w="2794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2606040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D6FA8"/>
                </a:solidFill>
                <a:latin typeface="Aptos"/>
              </a:defRPr>
            </a:pPr>
            <a:r>
              <a:t>photon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977639"/>
            <a:ext cx="4754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636F7B"/>
                </a:solidFill>
                <a:latin typeface="Aptos"/>
              </a:defRPr>
            </a:pPr>
            <a:r>
              <a:t>Conceptual only — quantum links are not ordinary IP packet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1498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2D6FA8"/>
                </a:solidFill>
                <a:latin typeface="Aptos"/>
              </a:defRPr>
            </a:pPr>
            <a:r>
              <a:t>Large-scale quantum networking remains experimental; it is not a universal replacement for the Internet.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05 / PROTECTING CLASSICAL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Post-quantum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800600" cy="2377440"/>
          </a:xfrm>
          <a:prstGeom prst="rect">
            <a:avLst/>
          </a:prstGeom>
          <a:solidFill>
            <a:srgbClr val="FAF1E1"/>
          </a:solidFill>
          <a:ln>
            <a:solidFill>
              <a:srgbClr val="EBDD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B44F53"/>
                </a:solidFill>
                <a:latin typeface="Aptos"/>
              </a:defRPr>
            </a:pPr>
            <a:r>
              <a:t>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0690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6303B"/>
                </a:solidFill>
                <a:latin typeface="Aptos"/>
              </a:defRPr>
            </a:pPr>
            <a:r>
              <a:t>A sufficiently capable quantum computer could threaten some public-key cryptography used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00600" cy="2377440"/>
          </a:xfrm>
          <a:prstGeom prst="rect">
            <a:avLst/>
          </a:prstGeom>
          <a:solidFill>
            <a:srgbClr val="E1F1EF"/>
          </a:solidFill>
          <a:ln>
            <a:solidFill>
              <a:srgbClr val="C3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2D918F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0690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6303B"/>
                </a:solidFill>
                <a:latin typeface="Aptos"/>
              </a:defRPr>
            </a:pPr>
            <a:r>
              <a:t>PQC uses algorithms designed to resist attacks from classical and quantum computers.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182B41"/>
                </a:solidFill>
                <a:latin typeface="Aptos"/>
              </a:defRPr>
            </a:pPr>
            <a:r>
              <a:t>NIST published three post-quantum cryptography standards in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1498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636F7B"/>
                </a:solidFill>
                <a:latin typeface="Aptos"/>
              </a:defRPr>
            </a:pPr>
            <a:r>
              <a:t>PQC protects classical digital communication. Quantum networking is about communicating quantum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06 / SHARED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Blockchain in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D918F"/>
                </a:solidFill>
                <a:latin typeface="Aptos"/>
              </a:defRPr>
            </a:pPr>
            <a:r>
              <a:t>Where it might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Device identity records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Access-change logs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Shared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D79141"/>
                </a:solidFill>
                <a:latin typeface="Aptos"/>
              </a:defRPr>
            </a:pPr>
            <a:r>
              <a:t>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466344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Latency and storage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Privacy and complexity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Consensus overhead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10241280" cy="74980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4901184"/>
            <a:ext cx="97840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If one trusted organization controls the data, a traditional database may be simpler.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07 / ADDITIONAL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6G: the next mobile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182B41"/>
                </a:solidFill>
                <a:latin typeface="Aptos"/>
              </a:defRPr>
            </a:pPr>
            <a:r>
              <a:t>Potential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Future mobile connectivity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AI-enabled communication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Connected devices and immersive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D79141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57200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Standards and testing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Infrastructure and energy costs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Coverage and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10195560" cy="566928"/>
          </a:xfrm>
          <a:prstGeom prst="rect">
            <a:avLst/>
          </a:prstGeom>
          <a:solidFill>
            <a:srgbClr val="E1EDF7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864608"/>
            <a:ext cx="9784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2D6FA8"/>
                </a:solidFill>
                <a:latin typeface="Aptos"/>
              </a:defRPr>
            </a:pPr>
            <a:r>
              <a:t>CURRENT STATUS: Emerging / standardization — not a fully deployed commercial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08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Protocol layers still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481328"/>
            <a:ext cx="2331720" cy="530352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618488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81328"/>
            <a:ext cx="7132320" cy="53035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AI services • blockchain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231136"/>
            <a:ext cx="2331720" cy="53035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368296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31136"/>
            <a:ext cx="7132320" cy="530352"/>
          </a:xfrm>
          <a:prstGeom prst="rect">
            <a:avLst/>
          </a:prstGeom>
          <a:solidFill>
            <a:srgbClr val="E1F1E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350008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TCP / UDP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980944"/>
            <a:ext cx="2331720" cy="530352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118103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980944"/>
            <a:ext cx="7132320" cy="530352"/>
          </a:xfrm>
          <a:prstGeom prst="rect">
            <a:avLst/>
          </a:prstGeom>
          <a:solidFill>
            <a:srgbClr val="FAF1E1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3099815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IP routing • AI-assisted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730752"/>
            <a:ext cx="2331720" cy="530352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86791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730752"/>
            <a:ext cx="7132320" cy="53035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3849624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Wi-Fi • 5G / 6G radio links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480560"/>
            <a:ext cx="2331720" cy="530352"/>
          </a:xfrm>
          <a:prstGeom prst="rect">
            <a:avLst/>
          </a:prstGeom>
          <a:solidFill>
            <a:srgbClr val="B44F53"/>
          </a:solidFill>
          <a:ln>
            <a:solidFill>
              <a:srgbClr val="B44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61772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480560"/>
            <a:ext cx="7132320" cy="530352"/>
          </a:xfrm>
          <a:prstGeom prst="rect">
            <a:avLst/>
          </a:prstGeom>
          <a:solidFill>
            <a:srgbClr val="F8EBEB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4599432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Fiber • radio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82B41"/>
                </a:solidFill>
                <a:latin typeface="Aptos"/>
              </a:defRPr>
            </a:pPr>
            <a:r>
              <a:t>Encapsulation: Message → Segment → Packet → Frame → Bits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09 / 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My Network of 2035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D918F"/>
                </a:solidFill>
                <a:latin typeface="Aptos"/>
              </a:defRPr>
            </a:pPr>
            <a:r>
              <a:t>CLASSICAL DATA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20240" cy="80467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177393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End devices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28800"/>
            <a:ext cx="2194560" cy="80467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2011680"/>
            <a:ext cx="2048255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Access</a:t>
            </a:r>
            <a:br/>
            <a:r>
              <a:t>Wi-Fi / 5G / 6G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828800"/>
            <a:ext cx="2194560" cy="80467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62472" y="2011680"/>
            <a:ext cx="2048255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IP network</a:t>
            </a:r>
            <a:br/>
            <a:r>
              <a:t>Routers / TCP / UDP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286000" cy="80467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7112" y="2011680"/>
            <a:ext cx="213969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Edge or cloud</a:t>
            </a:r>
            <a:br/>
            <a:r>
              <a:t>Applications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231136"/>
            <a:ext cx="548640" cy="0"/>
          </a:xfrm>
          <a:prstGeom prst="line">
            <a:avLst/>
          </a:prstGeom>
          <a:ln w="2286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2231136"/>
            <a:ext cx="548640" cy="0"/>
          </a:xfrm>
          <a:prstGeom prst="line">
            <a:avLst/>
          </a:prstGeom>
          <a:ln w="2286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83879" y="2231136"/>
            <a:ext cx="640081" cy="0"/>
          </a:xfrm>
          <a:prstGeom prst="line">
            <a:avLst/>
          </a:prstGeom>
          <a:ln w="2286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0360" y="3154680"/>
            <a:ext cx="6492240" cy="804672"/>
          </a:xfrm>
          <a:prstGeom prst="rect">
            <a:avLst/>
          </a:prstGeom>
          <a:solidFill>
            <a:srgbClr val="E1F1EF"/>
          </a:solidFill>
          <a:ln>
            <a:solidFill>
              <a:srgbClr val="C3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3310128"/>
            <a:ext cx="6126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82B41"/>
                </a:solidFill>
                <a:latin typeface="Aptos"/>
              </a:defRPr>
            </a:pPr>
            <a:r>
              <a:t>AI NETWORK CONTROLLER  •  monitor • predict • optimize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126480" y="2697480"/>
            <a:ext cx="0" cy="457200"/>
          </a:xfrm>
          <a:prstGeom prst="line">
            <a:avLst/>
          </a:prstGeom>
          <a:ln w="19050">
            <a:solidFill>
              <a:srgbClr val="2D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434840"/>
            <a:ext cx="3200400" cy="1051560"/>
          </a:xfrm>
          <a:prstGeom prst="roundRect">
            <a:avLst/>
          </a:prstGeom>
          <a:solidFill>
            <a:srgbClr val="FAF1E1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434840"/>
            <a:ext cx="64008" cy="1051560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544568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Cybersecurity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882896"/>
            <a:ext cx="2926080" cy="5486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Authentication • monitoring • PQC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434840"/>
            <a:ext cx="3200400" cy="105156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4434840"/>
            <a:ext cx="64008" cy="1051560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4544568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882896"/>
            <a:ext cx="2926080" cy="5486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Selected identity and audit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434840"/>
            <a:ext cx="3200400" cy="1051560"/>
          </a:xfrm>
          <a:prstGeom prst="roundRect">
            <a:avLst/>
          </a:prstGeom>
          <a:solidFill>
            <a:srgbClr val="E1F1E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4434840"/>
            <a:ext cx="64008" cy="1051560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4544568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Quantum pathway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882896"/>
            <a:ext cx="2926080" cy="5486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Specialized quantum information; experimental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636F7B"/>
                </a:solidFill>
                <a:latin typeface="Aptos"/>
              </a:defRPr>
            </a:pPr>
            <a:r>
              <a:t>Security applies throughout; blockchain is not the path for every packet.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10 /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Comparison and my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233172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6002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481328"/>
            <a:ext cx="425196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27248" y="1600200"/>
            <a:ext cx="403250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481328"/>
            <a:ext cx="416052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79208" y="1600200"/>
            <a:ext cx="39410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MATURITY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20240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048256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AI networking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920240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27248" y="2048256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Management and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920240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2048256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Deployed / emerging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487168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615184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Quantum networking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487168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27248" y="2615184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Quantum 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487168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9208" y="2615184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Experimental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054096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182112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Post-quantum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054096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27248" y="3182112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Protect classical cryptography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054096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79208" y="3182112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Standards published; migration ongoing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21024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3749039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621024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27248" y="3749039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Shared, verifiable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621024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79208" y="3749039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Application-dependent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187952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4315968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6G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187952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27248" y="4315968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Future mobile connectivity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187952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79208" y="4315968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Emerging / standardization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074920"/>
            <a:ext cx="10561320" cy="749808"/>
          </a:xfrm>
          <a:prstGeom prst="rect">
            <a:avLst/>
          </a:prstGeom>
          <a:solidFill>
            <a:srgbClr val="E1EDF7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5239512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6FA8"/>
                </a:solidFill>
                <a:latin typeface="Aptos"/>
              </a:defRPr>
            </a:pPr>
            <a:r>
              <a:t>My prediction: AI-native networking may have the broadest everyday impact.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623560"/>
            <a:ext cx="10058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6303B"/>
                </a:solidFill>
                <a:latin typeface="Aptos"/>
              </a:defRPr>
            </a:pPr>
            <a:r>
              <a:t>It can improve existing networks through prediction, fault detection, and controlled automation.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36F7B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ECDC7"/>
                </a:solidFill>
                <a:latin typeface="Aptos"/>
              </a:defRPr>
            </a:pPr>
            <a:r>
              <a:t>11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943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The future is more likely to extend the Internet than replace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760720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AI may make network management more intelligent.</a:t>
            </a:r>
          </a:p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6G may improve future wireless connectivity.</a:t>
            </a:r>
          </a:p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PQC, blockchain, and quantum networking have different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600200"/>
            <a:ext cx="4114800" cy="3474720"/>
          </a:xfrm>
          <a:prstGeom prst="rect">
            <a:avLst/>
          </a:prstGeom>
          <a:solidFill>
            <a:srgbClr val="182B41"/>
          </a:solidFill>
          <a:ln>
            <a:solidFill>
              <a:srgbClr val="3B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874519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6ECDC7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Boutaba et al. — ML for networking (2018)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807208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Azuma et al. — Quantum repeaters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82696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NIST — PQC standards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48456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Yaga et al. — Blockchain overview (2018)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061315"/>
            <a:ext cx="2845901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ITU — IMT-2030 framework (2023)</a:t>
            </a:r>
            <a:endParaRPr lang="en-US" dirty="0"/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Reyna et al. — Blockchain and IoT (2018), </a:t>
            </a:r>
            <a:r>
              <a:rPr lang="en-US" dirty="0" err="1"/>
              <a:t>doi</a:t>
            </a:r>
            <a:r>
              <a:rPr lang="en-US" dirty="0"/>
              <a:t>: 10.1016/j.future.2018.05.046</a:t>
            </a:r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300" b="1">
                <a:solidFill>
                  <a:srgbClr val="6ECDC7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AEBECD"/>
                </a:solidFill>
                <a:latin typeface="Aptos"/>
              </a:defRPr>
            </a:pPr>
            <a:r>
              <a:t>COMPUTER NETWORKS  /  BLAST 02  /  FALL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AEBEC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835</Words>
  <Application>Microsoft Macintosh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2</cp:revision>
  <dcterms:created xsi:type="dcterms:W3CDTF">2013-01-27T09:14:16Z</dcterms:created>
  <dcterms:modified xsi:type="dcterms:W3CDTF">2026-10-15T00:34:20Z</dcterms:modified>
  <cp:category/>
</cp:coreProperties>
</file>